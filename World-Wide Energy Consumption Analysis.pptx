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2" r:id="rId5"/>
    <p:sldId id="262" r:id="rId6"/>
    <p:sldId id="267" r:id="rId7"/>
    <p:sldId id="264" r:id="rId8"/>
    <p:sldId id="265" r:id="rId9"/>
    <p:sldId id="268" r:id="rId10"/>
    <p:sldId id="266" r:id="rId11"/>
    <p:sldId id="271" r:id="rId12"/>
    <p:sldId id="273" r:id="rId13"/>
    <p:sldId id="259" r:id="rId14"/>
  </p:sldIdLst>
  <p:sldSz cx="12192000" cy="6858000"/>
  <p:notesSz cx="6858000" cy="9144000"/>
  <p:embeddedFontLst>
    <p:embeddedFont>
      <p:font typeface="Libre Baskerville" panose="020B0604020202020204" charset="0"/>
      <p:regular r:id="rId16"/>
      <p:bold r:id="rId17"/>
      <p:italic r:id="rId18"/>
    </p:embeddedFont>
    <p:embeddedFont>
      <p:font typeface="Lato Black" panose="020B0604020202020204" charset="0"/>
      <p:bold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80" autoAdjust="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shweta-nikate-22020233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hwetaNikat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32054"/>
            <a:ext cx="7246189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200" b="1" i="0" u="none" strike="noStrike" cap="none" dirty="0" smtClean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World Wide Energy Consumption Analysis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2400" dirty="0" smtClean="0">
              <a:ea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dirty="0" smtClean="0">
                <a:ea typeface="Calibri"/>
              </a:rPr>
              <a:t>By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Shweta R </a:t>
            </a: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Nikate</a:t>
            </a:r>
            <a:endParaRPr lang="en-US" sz="2400" i="0" u="none" strike="noStrike" cap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1" y="1299171"/>
            <a:ext cx="10994643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 smtClean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My name is Shweta </a:t>
            </a:r>
            <a:r>
              <a:rPr lang="en-IN" sz="2400" dirty="0" err="1" smtClean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Ravindra</a:t>
            </a:r>
            <a:r>
              <a:rPr lang="en-IN" sz="2400" dirty="0" smtClean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IN" sz="2400" dirty="0" err="1" smtClean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Nikate</a:t>
            </a:r>
            <a:r>
              <a:rPr lang="en-IN" sz="2400" dirty="0" smtClean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, I have completed my BE in Ceramics and Cement Technology from PDA Engineering College, Gulbarga, Karnataka.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	</a:t>
            </a:r>
            <a:endParaRPr sz="240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I am learning Data Analytics because data has become a key factor in decision-making across every industry. Today, organizations rely on data-driven insights for decisions. It helps me to solve real-world business problems, and build a stable, impactful career in a rapidly growing field.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endParaRPr sz="24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W</a:t>
            </a:r>
            <a:r>
              <a:rPr lang="en-IN" sz="2400" i="0" u="none" strike="noStrike" cap="none" dirty="0" smtClean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ork experience: </a:t>
            </a:r>
            <a:r>
              <a:rPr lang="en-IN" sz="24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I worked as a Pre-Sales Executive nearly about 3 years and worked as a Admin &amp; HR executive for about 6 months.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LinkedIn</a:t>
            </a:r>
            <a:r>
              <a:rPr lang="en-IN" sz="24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:</a:t>
            </a:r>
            <a:r>
              <a:rPr lang="en-IN" sz="2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000" b="1" dirty="0" smtClean="0">
                <a:hlinkClick r:id="rId3"/>
              </a:rPr>
              <a:t>www.linkedin.com/in/shweta-nikate-220202330</a:t>
            </a:r>
            <a:r>
              <a:rPr lang="en-IN" sz="2000" b="1" dirty="0" smtClean="0"/>
              <a:t>  </a:t>
            </a:r>
            <a:endParaRPr lang="en-IN" sz="2000" b="1" i="0" u="none" strike="noStrike" cap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GitHub</a:t>
            </a:r>
            <a:r>
              <a:rPr lang="en-IN" sz="24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:</a:t>
            </a:r>
            <a:r>
              <a:rPr lang="en-IN" sz="2000" b="1" dirty="0">
                <a:sym typeface="Calibri"/>
              </a:rPr>
              <a:t> </a:t>
            </a:r>
            <a:r>
              <a:rPr lang="en-IN" sz="2000" b="1" dirty="0">
                <a:sym typeface="Calibri"/>
                <a:hlinkClick r:id="rId4"/>
              </a:rPr>
              <a:t>https://github.com/ShwetaNikate</a:t>
            </a:r>
            <a:r>
              <a:rPr lang="en-IN" sz="2000" b="1" dirty="0">
                <a:sym typeface="Calibri"/>
              </a:rPr>
              <a:t> </a:t>
            </a:r>
            <a:endParaRPr sz="2000" b="1" dirty="0"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0" u="none" strike="noStrike" cap="none" dirty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Lato Black"/>
              </a:rPr>
              <a:t>About me</a:t>
            </a:r>
            <a:endParaRPr sz="1800" b="1" i="0" u="none" strike="noStrike" cap="none" dirty="0">
              <a:solidFill>
                <a:srgbClr val="FF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23557" y="0"/>
            <a:ext cx="10818109" cy="188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Arial"/>
              </a:rPr>
              <a:t>Agenda </a:t>
            </a:r>
            <a:r>
              <a:rPr lang="en-IN" b="1" dirty="0" smtClean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+mn-lt"/>
                <a:sym typeface="Arial"/>
              </a:rPr>
              <a:t>Objective of the Project</a:t>
            </a:r>
            <a:endParaRPr sz="2400" dirty="0">
              <a:latin typeface="+mn-lt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+mn-lt"/>
                <a:sym typeface="Arial"/>
              </a:rPr>
              <a:t>ER Diagram and schema explanation</a:t>
            </a:r>
            <a:endParaRPr sz="2400" dirty="0">
              <a:latin typeface="+mn-lt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+mn-lt"/>
                <a:sym typeface="Arial"/>
              </a:rPr>
              <a:t>Key analysis questions (use cases</a:t>
            </a:r>
            <a:r>
              <a:rPr lang="en-IN" sz="2400" dirty="0" smtClean="0">
                <a:latin typeface="+mn-lt"/>
                <a:sym typeface="Arial"/>
              </a:rPr>
              <a:t>)</a:t>
            </a:r>
          </a:p>
          <a:p>
            <a:pPr indent="-431800">
              <a:buSzPts val="2400"/>
            </a:pPr>
            <a:r>
              <a:rPr lang="en-US" sz="2400" dirty="0">
                <a:latin typeface="+mn-lt"/>
              </a:rPr>
              <a:t>SQL query results with screenshots or </a:t>
            </a:r>
            <a:r>
              <a:rPr lang="en-US" sz="2400" dirty="0" smtClean="0">
                <a:latin typeface="+mn-lt"/>
              </a:rPr>
              <a:t>summaries</a:t>
            </a:r>
            <a:endParaRPr sz="2400" dirty="0">
              <a:latin typeface="+mn-lt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+mn-lt"/>
                <a:sym typeface="Arial"/>
              </a:rPr>
              <a:t>Final business insights and recommendations</a:t>
            </a:r>
            <a:endParaRPr sz="2400" dirty="0">
              <a:latin typeface="+mn-lt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+mn-lt"/>
                <a:sym typeface="Arial"/>
              </a:rPr>
              <a:t>Conclusion (Key finding overall) </a:t>
            </a:r>
            <a:endParaRPr sz="2400" dirty="0">
              <a:latin typeface="+mn-lt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+mn-lt"/>
                <a:sym typeface="Arial"/>
              </a:rPr>
              <a:t>Experience and Challenges</a:t>
            </a:r>
            <a:endParaRPr sz="2400" dirty="0">
              <a:latin typeface="+mn-lt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Objective</a:t>
            </a:r>
            <a:br>
              <a:rPr lang="en-IN" sz="3200" b="1" dirty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</a:br>
            <a:endParaRPr lang="en-IN" sz="3200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92200"/>
            <a:ext cx="10515600" cy="50847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The </a:t>
            </a:r>
            <a:r>
              <a:rPr lang="en-US" sz="2400" dirty="0">
                <a:latin typeface="+mn-lt"/>
              </a:rPr>
              <a:t>main objective of this analysis is to understand how energy is produced, consumed, and distributed across different regions and </a:t>
            </a:r>
            <a:r>
              <a:rPr lang="en-US" sz="2400" dirty="0">
                <a:latin typeface="+mn-lt"/>
              </a:rPr>
              <a:t>sectors.</a:t>
            </a:r>
          </a:p>
          <a:p>
            <a:r>
              <a:rPr lang="en-US" sz="2400" dirty="0">
                <a:latin typeface="+mn-lt"/>
              </a:rPr>
              <a:t>Identify which energy </a:t>
            </a:r>
            <a:r>
              <a:rPr lang="en-US" sz="2400" dirty="0">
                <a:latin typeface="+mn-lt"/>
              </a:rPr>
              <a:t>type contribute </a:t>
            </a:r>
            <a:r>
              <a:rPr lang="en-US" sz="2400" dirty="0">
                <a:latin typeface="+mn-lt"/>
              </a:rPr>
              <a:t>most to overall </a:t>
            </a:r>
            <a:r>
              <a:rPr lang="en-US" sz="2400" dirty="0">
                <a:latin typeface="+mn-lt"/>
              </a:rPr>
              <a:t>emission.</a:t>
            </a:r>
          </a:p>
          <a:p>
            <a:r>
              <a:rPr lang="en-US" sz="2400" dirty="0">
                <a:latin typeface="+mn-lt"/>
              </a:rPr>
              <a:t>To identify the top countries by GDP.</a:t>
            </a:r>
          </a:p>
          <a:p>
            <a:r>
              <a:rPr lang="en-US" sz="2400" dirty="0">
                <a:latin typeface="+mn-lt"/>
              </a:rPr>
              <a:t>To know the emission </a:t>
            </a:r>
            <a:r>
              <a:rPr lang="en-US" sz="2400" dirty="0">
                <a:latin typeface="+mn-lt"/>
              </a:rPr>
              <a:t>changes </a:t>
            </a:r>
            <a:r>
              <a:rPr lang="en-US" sz="2400" dirty="0">
                <a:latin typeface="+mn-lt"/>
              </a:rPr>
              <a:t>over the years.</a:t>
            </a:r>
          </a:p>
          <a:p>
            <a:endParaRPr lang="en-US" sz="2400" dirty="0">
              <a:latin typeface="+mn-lt"/>
            </a:endParaRPr>
          </a:p>
          <a:p>
            <a:pPr marL="114300" indent="0">
              <a:buNone/>
            </a:pP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068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dirty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Arial"/>
              </a:rPr>
              <a:t>ER Diagram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28" y="1625147"/>
            <a:ext cx="8784772" cy="461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2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0913" y="195922"/>
            <a:ext cx="106512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Global emissions by year</a:t>
            </a:r>
            <a:endParaRPr lang="en-IN" sz="3200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56" y="2909370"/>
            <a:ext cx="3775191" cy="21696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56" y="1018731"/>
            <a:ext cx="5222991" cy="1435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686" y="1440414"/>
            <a:ext cx="5496692" cy="35342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9332" y="5534560"/>
            <a:ext cx="102928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The </a:t>
            </a:r>
            <a:r>
              <a:rPr lang="en-IN" sz="2000" dirty="0"/>
              <a:t>line chart shows a consistent rise in </a:t>
            </a:r>
            <a:r>
              <a:rPr lang="en-IN" sz="2000" dirty="0" smtClean="0"/>
              <a:t>total global </a:t>
            </a:r>
            <a:r>
              <a:rPr lang="en-IN" sz="2000" dirty="0"/>
              <a:t>emissions from 2020 to </a:t>
            </a:r>
            <a:r>
              <a:rPr lang="en-IN" sz="2000" dirty="0" smtClean="0"/>
              <a:t>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Emissions </a:t>
            </a:r>
            <a:r>
              <a:rPr lang="en-IN" sz="2000" dirty="0"/>
              <a:t>increased from 67,852 units in 2020 to 74,161 units in 2023. </a:t>
            </a:r>
          </a:p>
        </p:txBody>
      </p:sp>
    </p:spTree>
    <p:extLst>
      <p:ext uri="{BB962C8B-B14F-4D97-AF65-F5344CB8AC3E}">
        <p14:creationId xmlns:p14="http://schemas.microsoft.com/office/powerpoint/2010/main" val="27009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51" y="935940"/>
            <a:ext cx="6201177" cy="16701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33251" y="111198"/>
            <a:ext cx="8483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algn="ctr"/>
            <a:r>
              <a:rPr lang="en-US" sz="3200" b="1" dirty="0" smtClean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Emission contribution by Energy type</a:t>
            </a:r>
            <a:endParaRPr lang="en-US" sz="3200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51" y="2863216"/>
            <a:ext cx="5117754" cy="19845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805" y="1440823"/>
            <a:ext cx="6452195" cy="340694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97516" y="5084789"/>
            <a:ext cx="110832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CO2 account for a major portion of the emissions, indicating that they are the most polluting sources</a:t>
            </a:r>
            <a:r>
              <a:rPr lang="en-US" sz="2000" dirty="0" smtClean="0">
                <a:latin typeface="+mn-lt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 contrast, energy types with smaller proportions contribute comparatively less to emissions.</a:t>
            </a: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514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22443"/>
            <a:ext cx="4610308" cy="192096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96572" y="99618"/>
            <a:ext cx="88900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318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US" sz="3200" b="1" dirty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Calibri"/>
              </a:rPr>
              <a:t>T</a:t>
            </a:r>
            <a:r>
              <a:rPr lang="en-US" sz="3200" b="1" dirty="0" smtClean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Calibri"/>
              </a:rPr>
              <a:t>op </a:t>
            </a:r>
            <a:r>
              <a:rPr lang="en-US" sz="3200" b="1" dirty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Calibri"/>
              </a:rPr>
              <a:t>5 countries by GDP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87540"/>
            <a:ext cx="4153108" cy="22400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889" y="822443"/>
            <a:ext cx="5664679" cy="43483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2000" y="5614894"/>
            <a:ext cx="102389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China </a:t>
            </a:r>
            <a:r>
              <a:rPr lang="en-IN" sz="2000" dirty="0"/>
              <a:t>is a top-most country by GDP, followed by US, India Japan &amp; </a:t>
            </a:r>
            <a:r>
              <a:rPr lang="en-IN" sz="2000" dirty="0" smtClean="0"/>
              <a:t>Germany. </a:t>
            </a:r>
            <a:r>
              <a:rPr lang="en-US" sz="2000" dirty="0"/>
              <a:t>Higher industrial output contributes to higher </a:t>
            </a:r>
            <a:r>
              <a:rPr lang="en-US" sz="2000" dirty="0" smtClean="0"/>
              <a:t>GDP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1093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19" y="2385576"/>
            <a:ext cx="3785964" cy="28685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40371" y="125827"/>
            <a:ext cx="85395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algn="ctr"/>
            <a:r>
              <a:rPr lang="en-US" sz="3200" b="1" dirty="0" smtClean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Global </a:t>
            </a:r>
            <a:r>
              <a:rPr lang="en-US" sz="3200" b="1" dirty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share (%) of emissions by </a:t>
            </a:r>
            <a:r>
              <a:rPr lang="en-US" sz="3200" b="1" dirty="0" smtClean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country</a:t>
            </a:r>
            <a:endParaRPr lang="en-US" sz="3200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19" y="773381"/>
            <a:ext cx="8843910" cy="14411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91019" y="5259976"/>
            <a:ext cx="106962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China </a:t>
            </a:r>
            <a:r>
              <a:rPr lang="en-US" sz="2000" dirty="0">
                <a:latin typeface="+mn-lt"/>
              </a:rPr>
              <a:t>contributes the largest share of global emissions, accounting for over 32% of total global emissions.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top three countries alone contribute more than 50% of </a:t>
            </a:r>
            <a:r>
              <a:rPr lang="en-US" sz="2000" dirty="0" smtClean="0">
                <a:latin typeface="+mn-lt"/>
              </a:rPr>
              <a:t>global </a:t>
            </a:r>
            <a:r>
              <a:rPr lang="en-US" sz="2000" dirty="0">
                <a:latin typeface="+mn-lt"/>
              </a:rPr>
              <a:t>emissions.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803" y="1493952"/>
            <a:ext cx="6111967" cy="366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77659" y="255734"/>
            <a:ext cx="934958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Global average GDP and emission by year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535" y="1170352"/>
            <a:ext cx="6694466" cy="37191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77" y="3336075"/>
            <a:ext cx="4355123" cy="16667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92" y="1333500"/>
            <a:ext cx="5548473" cy="140356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66056" y="5340250"/>
            <a:ext cx="1103085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Average </a:t>
            </a:r>
            <a:r>
              <a:rPr lang="en-US" sz="2000" dirty="0">
                <a:latin typeface="+mn-lt"/>
              </a:rPr>
              <a:t>GDP increases steadily over the years, indicating economic growth</a:t>
            </a:r>
            <a:r>
              <a:rPr lang="en-US" sz="2000" dirty="0" smtClean="0">
                <a:latin typeface="+mn-lt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Average </a:t>
            </a:r>
            <a:r>
              <a:rPr lang="en-US" sz="2000" dirty="0">
                <a:latin typeface="+mn-lt"/>
              </a:rPr>
              <a:t>Emission also gradually increases at a much smaller scale, suggesting a slow growth in emission levels relative to economic growth.</a:t>
            </a:r>
          </a:p>
          <a:p>
            <a:endParaRPr lang="en-US" dirty="0" smtClean="0"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56882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Arial"/>
              </a:rPr>
              <a:t>Conclusions</a:t>
            </a:r>
            <a:endParaRPr lang="en-IN" sz="3200" b="1" dirty="0">
              <a:solidFill>
                <a:srgbClr val="FF0000"/>
              </a:solidFill>
              <a:latin typeface="+mj-lt"/>
              <a:ea typeface="Lato Black"/>
              <a:cs typeface="Lato Black"/>
              <a:sym typeface="Arial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" y="893448"/>
            <a:ext cx="1181970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energy use and CO₂ emissions are increasing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every year.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China, the United States, and India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 top contributors to global emissions.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Fossil fuels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still the major source of energy, leading to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carbon emissions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GDP is rising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emissions are also rising, but at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slower rate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some improvements in efficiency.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emissions, countries need to: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the use of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renewable energy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(solar, wind, hydro).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efficiency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industries and households.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China and the United States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show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consistently high energy consumption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indicating strong industrial and economic activity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India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shows a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steady upward trend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meaning rising energy needs due to population and economic growth.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6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Experience </a:t>
            </a:r>
            <a:r>
              <a:rPr lang="en-US" sz="3200" b="1" dirty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and Challenges</a:t>
            </a:r>
            <a:endParaRPr lang="en-IN" sz="3200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92702"/>
            <a:ext cx="10515600" cy="489555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Experience:</a:t>
            </a:r>
          </a:p>
          <a:p>
            <a:r>
              <a:rPr lang="en-US" sz="2400" dirty="0" smtClean="0">
                <a:latin typeface="+mn-lt"/>
              </a:rPr>
              <a:t>Understood how to </a:t>
            </a:r>
            <a:r>
              <a:rPr lang="en-US" sz="2400" b="1" dirty="0" smtClean="0">
                <a:latin typeface="+mn-lt"/>
              </a:rPr>
              <a:t>join and integrate</a:t>
            </a:r>
            <a:r>
              <a:rPr lang="en-US" sz="2400" dirty="0" smtClean="0">
                <a:latin typeface="+mn-lt"/>
              </a:rPr>
              <a:t> tables</a:t>
            </a:r>
          </a:p>
          <a:p>
            <a:r>
              <a:rPr lang="en-IN" sz="2400" dirty="0" smtClean="0">
                <a:latin typeface="+mn-lt"/>
              </a:rPr>
              <a:t>Understood </a:t>
            </a:r>
            <a:r>
              <a:rPr lang="en-IN" sz="2400" b="1" dirty="0">
                <a:latin typeface="+mn-lt"/>
              </a:rPr>
              <a:t>global energy usage patterns</a:t>
            </a:r>
            <a:r>
              <a:rPr lang="en-IN" sz="2400" dirty="0">
                <a:latin typeface="+mn-lt"/>
              </a:rPr>
              <a:t>.</a:t>
            </a:r>
            <a:endParaRPr lang="en-IN" sz="2400" dirty="0">
              <a:latin typeface="+mn-lt"/>
            </a:endParaRPr>
          </a:p>
          <a:p>
            <a:pPr marL="11430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+mn-lt"/>
              </a:rPr>
              <a:t>Challenges</a:t>
            </a:r>
            <a:r>
              <a:rPr lang="en-US" dirty="0" smtClean="0"/>
              <a:t>:</a:t>
            </a:r>
          </a:p>
          <a:p>
            <a:r>
              <a:rPr lang="en-US" sz="2400" dirty="0">
                <a:latin typeface="+mn-lt"/>
              </a:rPr>
              <a:t>Understanding </a:t>
            </a:r>
            <a:r>
              <a:rPr lang="en-US" sz="2400" b="1" dirty="0">
                <a:latin typeface="+mn-lt"/>
              </a:rPr>
              <a:t>real-world context</a:t>
            </a:r>
            <a:r>
              <a:rPr lang="en-US" sz="2400" dirty="0">
                <a:latin typeface="+mn-lt"/>
              </a:rPr>
              <a:t> behind trends (economic growth, policies, population impact).</a:t>
            </a:r>
          </a:p>
          <a:p>
            <a:r>
              <a:rPr lang="en-IN" sz="2400" dirty="0" smtClean="0">
                <a:latin typeface="+mn-lt"/>
              </a:rPr>
              <a:t>Handling </a:t>
            </a:r>
            <a:r>
              <a:rPr lang="en-IN" sz="2400" b="1" dirty="0">
                <a:latin typeface="+mn-lt"/>
              </a:rPr>
              <a:t>large datasets</a:t>
            </a:r>
            <a:r>
              <a:rPr lang="en-IN" sz="2400" dirty="0">
                <a:latin typeface="+mn-lt"/>
              </a:rPr>
              <a:t> </a:t>
            </a:r>
            <a:endParaRPr lang="en-IN" sz="2400" dirty="0" smtClean="0">
              <a:latin typeface="+mn-lt"/>
            </a:endParaRPr>
          </a:p>
          <a:p>
            <a:r>
              <a:rPr lang="en-US" sz="2400" dirty="0">
                <a:latin typeface="+mn-lt"/>
              </a:rPr>
              <a:t>Running queries(</a:t>
            </a:r>
            <a:r>
              <a:rPr lang="en-IN" sz="2400" dirty="0">
                <a:latin typeface="+mn-lt"/>
              </a:rPr>
              <a:t>Grouping, Aggregation, Joins</a:t>
            </a:r>
            <a:r>
              <a:rPr lang="en-US" sz="2400" dirty="0" smtClean="0">
                <a:latin typeface="+mn-lt"/>
              </a:rPr>
              <a:t>)</a:t>
            </a:r>
            <a:endParaRPr lang="en-IN" sz="2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812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6239</TotalTime>
  <Words>490</Words>
  <Application>Microsoft Office PowerPoint</Application>
  <PresentationFormat>Widescreen</PresentationFormat>
  <Paragraphs>63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Libre Baskerville</vt:lpstr>
      <vt:lpstr>Lato Black</vt:lpstr>
      <vt:lpstr>Arial</vt:lpstr>
      <vt:lpstr>system-ui</vt:lpstr>
      <vt:lpstr>Calibri</vt:lpstr>
      <vt:lpstr>Wingdings</vt:lpstr>
      <vt:lpstr>Office Theme</vt:lpstr>
      <vt:lpstr>PowerPoint Presentation</vt:lpstr>
      <vt:lpstr>PowerPoint Presentation</vt:lpstr>
      <vt:lpstr>Agenda  </vt:lpstr>
      <vt:lpstr>Objective </vt:lpstr>
      <vt:lpstr>ER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</vt:lpstr>
      <vt:lpstr>Experience and Challenges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ADMIN</cp:lastModifiedBy>
  <cp:revision>81</cp:revision>
  <dcterms:created xsi:type="dcterms:W3CDTF">2021-02-16T05:19:01Z</dcterms:created>
  <dcterms:modified xsi:type="dcterms:W3CDTF">2025-11-11T05:01:34Z</dcterms:modified>
</cp:coreProperties>
</file>